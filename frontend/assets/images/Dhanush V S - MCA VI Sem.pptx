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8"/>
  </p:notesMasterIdLst>
  <p:sldIdLst>
    <p:sldId id="256" r:id="rId4"/>
    <p:sldId id="257" r:id="rId5"/>
    <p:sldId id="262" r:id="rId6"/>
    <p:sldId id="266" r:id="rId7"/>
    <p:sldId id="261" r:id="rId8"/>
    <p:sldId id="265" r:id="rId9"/>
    <p:sldId id="264" r:id="rId10"/>
    <p:sldId id="267" r:id="rId11"/>
    <p:sldId id="269" r:id="rId12"/>
    <p:sldId id="263" r:id="rId13"/>
    <p:sldId id="268" r:id="rId14"/>
    <p:sldId id="270" r:id="rId15"/>
    <p:sldId id="271" r:id="rId16"/>
    <p:sldId id="25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058"/>
    <a:srgbClr val="001C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-870" y="-2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B9E9B-1AAA-4305-9E96-A6C4A2CC285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569B-0B11-41A8-9AAD-D686D994C8B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B9E9B-1AAA-4305-9E96-A6C4A2CC285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569B-0B11-41A8-9AAD-D686D994C8B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B9E9B-1AAA-4305-9E96-A6C4A2CC285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569B-0B11-41A8-9AAD-D686D994C8B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B9E9B-1AAA-4305-9E96-A6C4A2CC285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569B-0B11-41A8-9AAD-D686D994C8B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B9E9B-1AAA-4305-9E96-A6C4A2CC285C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569B-0B11-41A8-9AAD-D686D994C8B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B9E9B-1AAA-4305-9E96-A6C4A2CC285C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569B-0B11-41A8-9AAD-D686D994C8B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B9E9B-1AAA-4305-9E96-A6C4A2CC285C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569B-0B11-41A8-9AAD-D686D994C8B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B9E9B-1AAA-4305-9E96-A6C4A2CC285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569B-0B11-41A8-9AAD-D686D994C8B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B9E9B-1AAA-4305-9E96-A6C4A2CC285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569B-0B11-41A8-9AAD-D686D994C8B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B9E9B-1AAA-4305-9E96-A6C4A2CC285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569B-0B11-41A8-9AAD-D686D994C8B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B9E9B-1AAA-4305-9E96-A6C4A2CC285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569B-0B11-41A8-9AAD-D686D994C8B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B9E9B-1AAA-4305-9E96-A6C4A2CC285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569B-0B11-41A8-9AAD-D686D994C8B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B9E9B-1AAA-4305-9E96-A6C4A2CC285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569B-0B11-41A8-9AAD-D686D994C8B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B9E9B-1AAA-4305-9E96-A6C4A2CC285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569B-0B11-41A8-9AAD-D686D994C8B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B9E9B-1AAA-4305-9E96-A6C4A2CC285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569B-0B11-41A8-9AAD-D686D994C8B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B9E9B-1AAA-4305-9E96-A6C4A2CC285C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569B-0B11-41A8-9AAD-D686D994C8B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B9E9B-1AAA-4305-9E96-A6C4A2CC285C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569B-0B11-41A8-9AAD-D686D994C8B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B9E9B-1AAA-4305-9E96-A6C4A2CC285C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569B-0B11-41A8-9AAD-D686D994C8B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B9E9B-1AAA-4305-9E96-A6C4A2CC285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569B-0B11-41A8-9AAD-D686D994C8B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B9E9B-1AAA-4305-9E96-A6C4A2CC285C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569B-0B11-41A8-9AAD-D686D994C8B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B9E9B-1AAA-4305-9E96-A6C4A2CC285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569B-0B11-41A8-9AAD-D686D994C8B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B9E9B-1AAA-4305-9E96-A6C4A2CC285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569B-0B11-41A8-9AAD-D686D994C8B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B9E9B-1AAA-4305-9E96-A6C4A2CC285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0569B-0B11-41A8-9AAD-D686D994C8B2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B9E9B-1AAA-4305-9E96-A6C4A2CC285C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0569B-0B11-41A8-9AAD-D686D994C8B2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jpe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6.jpe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.xml"/><Relationship Id="rId4" Type="http://schemas.openxmlformats.org/officeDocument/2006/relationships/image" Target="../media/image10.png"/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4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lum/>
          </a:blip>
          <a:srcRect/>
          <a:stretch>
            <a:fillRect l="-1000" t="-2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3090" y="645160"/>
            <a:ext cx="10991215" cy="1171575"/>
          </a:xfrm>
        </p:spPr>
        <p:txBody>
          <a:bodyPr>
            <a:normAutofit fontScale="90000"/>
          </a:bodyPr>
          <a:lstStyle/>
          <a:p>
            <a:r>
              <a:rPr lang="en-US" altLang="en-US" sz="4445" b="1" dirty="0">
                <a:solidFill>
                  <a:schemeClr val="accent1">
                    <a:lumMod val="50000"/>
                  </a:schemeClr>
                </a:solidFill>
              </a:rPr>
              <a:t>Design and Implementation of a Unified Data Platform for Construction Data</a:t>
            </a:r>
            <a:br>
              <a:rPr lang="en-IN" sz="4900" b="1" dirty="0">
                <a:solidFill>
                  <a:schemeClr val="accent1">
                    <a:lumMod val="50000"/>
                  </a:schemeClr>
                </a:solidFill>
              </a:rPr>
            </a:br>
            <a:br>
              <a:rPr lang="en-IN" sz="500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IN" sz="2000" b="1" dirty="0"/>
              <a:t>Organization name: </a:t>
            </a:r>
            <a:r>
              <a:rPr lang="en-IN" sz="2000" b="1" dirty="0">
                <a:solidFill>
                  <a:schemeClr val="accent2">
                    <a:lumMod val="50000"/>
                  </a:schemeClr>
                </a:solidFill>
              </a:rPr>
              <a:t>Kanerika</a:t>
            </a:r>
            <a:endParaRPr lang="en-IN" sz="48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150953"/>
            <a:ext cx="12192000" cy="1663401"/>
          </a:xfrm>
        </p:spPr>
        <p:txBody>
          <a:bodyPr>
            <a:normAutofit fontScale="72500"/>
          </a:bodyPr>
          <a:lstStyle/>
          <a:p>
            <a:r>
              <a:rPr lang="en-IN" sz="2000" b="1" dirty="0"/>
              <a:t>Presented by</a:t>
            </a:r>
            <a:endParaRPr lang="en-IN" sz="2000" b="1" dirty="0"/>
          </a:p>
          <a:p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Dhanush V S</a:t>
            </a:r>
            <a:endParaRPr lang="en-IN" sz="28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IN" sz="2000" dirty="0"/>
              <a:t>Roll No: 23223019</a:t>
            </a:r>
            <a:endParaRPr lang="en-IN" sz="2000" dirty="0"/>
          </a:p>
          <a:p>
            <a:pPr algn="ctr"/>
            <a:r>
              <a:rPr lang="en-IN" sz="1800" dirty="0"/>
              <a:t>MCA- VI Semester</a:t>
            </a:r>
            <a:endParaRPr lang="en-IN" sz="1800" dirty="0"/>
          </a:p>
          <a:p>
            <a:pPr algn="ctr"/>
            <a:r>
              <a:rPr lang="en-IN" sz="1800" dirty="0"/>
              <a:t>(Session: </a:t>
            </a:r>
            <a:r>
              <a:rPr lang="en-IN" sz="1800" dirty="0">
                <a:solidFill>
                  <a:srgbClr val="FF0000"/>
                </a:solidFill>
              </a:rPr>
              <a:t>2025-2026</a:t>
            </a:r>
            <a:r>
              <a:rPr lang="en-IN" sz="1800" dirty="0" smtClean="0"/>
              <a:t>)</a:t>
            </a:r>
            <a:endParaRPr lang="en-IN" sz="1800" dirty="0"/>
          </a:p>
        </p:txBody>
      </p:sp>
      <p:grpSp>
        <p:nvGrpSpPr>
          <p:cNvPr id="7" name="Group 6"/>
          <p:cNvGrpSpPr/>
          <p:nvPr/>
        </p:nvGrpSpPr>
        <p:grpSpPr>
          <a:xfrm>
            <a:off x="907370" y="4216485"/>
            <a:ext cx="10602346" cy="1076325"/>
            <a:chOff x="907370" y="4216485"/>
            <a:chExt cx="10602346" cy="1076325"/>
          </a:xfrm>
        </p:grpSpPr>
        <p:sp>
          <p:nvSpPr>
            <p:cNvPr id="4" name="TextBox 3"/>
            <p:cNvSpPr txBox="1"/>
            <p:nvPr/>
          </p:nvSpPr>
          <p:spPr>
            <a:xfrm>
              <a:off x="907370" y="4216485"/>
              <a:ext cx="3263704" cy="1076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en-US" b="1" dirty="0"/>
                <a:t>Dr.Tripti Swarnkar</a:t>
              </a:r>
              <a:endParaRPr lang="en-US" altLang="en-US" b="1" dirty="0"/>
            </a:p>
            <a:p>
              <a:pPr algn="ctr"/>
              <a:r>
                <a:rPr lang="en-IN" b="1" dirty="0">
                  <a:solidFill>
                    <a:schemeClr val="accent1">
                      <a:lumMod val="75000"/>
                    </a:schemeClr>
                  </a:solidFill>
                </a:rPr>
                <a:t>Head</a:t>
              </a:r>
              <a:endParaRPr lang="en-IN" b="1" dirty="0">
                <a:solidFill>
                  <a:schemeClr val="accent1">
                    <a:lumMod val="75000"/>
                  </a:schemeClr>
                </a:solidFill>
              </a:endParaRPr>
            </a:p>
            <a:p>
              <a:pPr algn="ctr"/>
              <a:r>
                <a:rPr lang="en-IN" sz="1400" dirty="0"/>
                <a:t>Department of Computer Applications</a:t>
              </a:r>
              <a:endParaRPr lang="en-IN" sz="1400" dirty="0"/>
            </a:p>
            <a:p>
              <a:pPr algn="ctr"/>
              <a:r>
                <a:rPr lang="en-IN" sz="1400" dirty="0"/>
                <a:t>National Institute of Technology Raipur</a:t>
              </a:r>
              <a:endParaRPr lang="en-IN" sz="1400" dirty="0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246012" y="4216485"/>
              <a:ext cx="3263704" cy="1076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 dirty="0"/>
                <a:t>Jaspal Rajpurohit</a:t>
              </a:r>
              <a:endParaRPr lang="en-IN" b="1" dirty="0"/>
            </a:p>
            <a:p>
              <a:pPr algn="ctr"/>
              <a:r>
                <a:rPr lang="en-IN" b="1" dirty="0">
                  <a:solidFill>
                    <a:schemeClr val="accent1">
                      <a:lumMod val="75000"/>
                    </a:schemeClr>
                  </a:solidFill>
                </a:rPr>
                <a:t>External Guide </a:t>
              </a:r>
              <a:endParaRPr lang="en-IN" b="1" dirty="0">
                <a:solidFill>
                  <a:schemeClr val="accent1">
                    <a:lumMod val="75000"/>
                  </a:schemeClr>
                </a:solidFill>
              </a:endParaRPr>
            </a:p>
            <a:p>
              <a:pPr algn="ctr"/>
              <a:r>
                <a:rPr lang="en-IN" sz="1400" dirty="0"/>
                <a:t>Software Engineer</a:t>
              </a:r>
              <a:endParaRPr lang="en-IN" sz="1400" dirty="0"/>
            </a:p>
            <a:p>
              <a:pPr algn="ctr"/>
              <a:r>
                <a:rPr lang="en-IN" sz="1400" dirty="0"/>
                <a:t>Kanerika</a:t>
              </a:r>
              <a:endParaRPr lang="en-IN" sz="1400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576691" y="4216485"/>
              <a:ext cx="3263704" cy="1076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en-US" b="1" dirty="0"/>
                <a:t>Dr. Manju Pandey</a:t>
              </a:r>
              <a:endParaRPr lang="en-US" altLang="en-US" b="1" dirty="0"/>
            </a:p>
            <a:p>
              <a:pPr algn="ctr"/>
              <a:r>
                <a:rPr lang="en-IN" b="1" dirty="0">
                  <a:solidFill>
                    <a:schemeClr val="accent1">
                      <a:lumMod val="75000"/>
                    </a:schemeClr>
                  </a:solidFill>
                </a:rPr>
                <a:t>Internal Guide </a:t>
              </a:r>
              <a:endParaRPr lang="en-IN" b="1" dirty="0">
                <a:solidFill>
                  <a:schemeClr val="accent1">
                    <a:lumMod val="75000"/>
                  </a:schemeClr>
                </a:solidFill>
              </a:endParaRPr>
            </a:p>
            <a:p>
              <a:pPr algn="ctr"/>
              <a:r>
                <a:rPr lang="en-IN" sz="1400" dirty="0"/>
                <a:t>Department of Computer Applications</a:t>
              </a:r>
              <a:endParaRPr lang="en-IN" sz="1400" dirty="0"/>
            </a:p>
            <a:p>
              <a:pPr algn="ctr"/>
              <a:r>
                <a:rPr lang="en-IN" sz="1400" dirty="0"/>
                <a:t>National Institute of Technology Raipur</a:t>
              </a:r>
              <a:endParaRPr lang="en-IN" sz="1400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112543" y="6213939"/>
            <a:ext cx="2822914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Joining date:</a:t>
            </a:r>
            <a:r>
              <a:rPr lang="en-IN" sz="1600" dirty="0">
                <a:solidFill>
                  <a:schemeClr val="accent5"/>
                </a:solidFill>
              </a:rPr>
              <a:t> </a:t>
            </a:r>
            <a:r>
              <a:rPr lang="en-IN" sz="1600" dirty="0">
                <a:solidFill>
                  <a:schemeClr val="accent1">
                    <a:lumMod val="75000"/>
                  </a:schemeClr>
                </a:solidFill>
              </a:rPr>
              <a:t>05/01/2026</a:t>
            </a:r>
            <a:endParaRPr lang="en-IN" sz="16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IN" sz="1600" dirty="0"/>
              <a:t>Submission date: </a:t>
            </a:r>
            <a:r>
              <a:rPr lang="en-IN" sz="1600" dirty="0">
                <a:solidFill>
                  <a:schemeClr val="accent1">
                    <a:lumMod val="75000"/>
                  </a:schemeClr>
                </a:solidFill>
              </a:rPr>
              <a:t>dd/mm/</a:t>
            </a:r>
            <a:r>
              <a:rPr lang="en-IN" sz="1600" dirty="0" err="1">
                <a:solidFill>
                  <a:schemeClr val="accent1">
                    <a:lumMod val="75000"/>
                  </a:schemeClr>
                </a:solidFill>
              </a:rPr>
              <a:t>yyyy</a:t>
            </a:r>
            <a:endParaRPr lang="en-IN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alphaModFix amt="5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24880" y="365125"/>
            <a:ext cx="4937760" cy="1325880"/>
          </a:xfrm>
        </p:spPr>
        <p:txBody>
          <a:bodyPr>
            <a:normAutofit/>
          </a:bodyPr>
          <a:lstStyle/>
          <a:p>
            <a:pPr algn="ctr"/>
            <a:r>
              <a:rPr lang="en-IN" altLang="en-US" sz="4000" b="1" dirty="0"/>
              <a:t>Joining Letter</a:t>
            </a:r>
            <a:endParaRPr lang="en-IN" altLang="en-US" sz="4000" b="1" dirty="0"/>
          </a:p>
        </p:txBody>
      </p:sp>
      <p:pic>
        <p:nvPicPr>
          <p:cNvPr id="11" name="Content Placeholder 10"/>
          <p:cNvPicPr>
            <a:picLocks noChangeAspect="1"/>
          </p:cNvPicPr>
          <p:nvPr>
            <p:ph sz="half" idx="1"/>
          </p:nvPr>
        </p:nvPicPr>
        <p:blipFill>
          <a:blip r:embed="rId2"/>
          <a:srcRect l="7930" t="2177" r="9123" b="9455"/>
          <a:stretch>
            <a:fillRect/>
          </a:stretch>
        </p:blipFill>
        <p:spPr>
          <a:xfrm>
            <a:off x="1477645" y="0"/>
            <a:ext cx="454723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alphaModFix amt="5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4000" b="1" dirty="0"/>
              <a:t>Information About the Organization</a:t>
            </a:r>
            <a:endParaRPr lang="en-US" alt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600" dirty="0"/>
              <a:t>About Kanerika</a:t>
            </a:r>
            <a:endParaRPr lang="en-US" altLang="en-US" sz="2600" dirty="0"/>
          </a:p>
          <a:p>
            <a:endParaRPr lang="en-US" altLang="en-US" sz="2300" dirty="0"/>
          </a:p>
          <a:p>
            <a:r>
              <a:rPr lang="en-US" altLang="en-US" sz="2300" dirty="0"/>
              <a:t>Kanerika is a global data, analytics, and AI consulting company.</a:t>
            </a:r>
            <a:endParaRPr lang="en-US" altLang="en-US" sz="2300" dirty="0"/>
          </a:p>
          <a:p>
            <a:r>
              <a:rPr lang="en-US" altLang="en-US" sz="2300" dirty="0"/>
              <a:t>The company helps organizations use data to improve business decisions and operations.</a:t>
            </a:r>
            <a:endParaRPr lang="en-US" altLang="en-US" sz="2300" dirty="0"/>
          </a:p>
          <a:p>
            <a:r>
              <a:rPr lang="en-US" altLang="en-US" sz="2300" dirty="0"/>
              <a:t>It works with modern technologies like Big Data, Artificial Intelligence, and Cloud platforms.</a:t>
            </a:r>
            <a:endParaRPr lang="en-US" altLang="en-US" sz="2300" dirty="0"/>
          </a:p>
        </p:txBody>
      </p:sp>
      <p:pic>
        <p:nvPicPr>
          <p:cNvPr id="5" name="Content Placeholder 4" descr="maxresdefault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91580" y="2206625"/>
            <a:ext cx="5181600" cy="29146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alphaModFix amt="5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 smtClean="0">
                <a:sym typeface="+mn-ea"/>
              </a:rPr>
              <a:t>Timeline </a:t>
            </a:r>
            <a:r>
              <a:rPr lang="en-IN" sz="4000" smtClean="0">
                <a:sym typeface="+mn-ea"/>
              </a:rPr>
              <a:t>Chart</a:t>
            </a:r>
            <a:endParaRPr lang="en-US" altLang="en-US" sz="4000" b="1" dirty="0"/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1532255" y="1459230"/>
            <a:ext cx="9497060" cy="5003165"/>
          </a:xfrm>
          <a:prstGeom prst="rect">
            <a:avLst/>
          </a:prstGeom>
        </p:spPr>
      </p:pic>
      <p:sp>
        <p:nvSpPr>
          <p:cNvPr id="8" name="Rectangles 7"/>
          <p:cNvSpPr/>
          <p:nvPr/>
        </p:nvSpPr>
        <p:spPr>
          <a:xfrm>
            <a:off x="10005695" y="6073140"/>
            <a:ext cx="959485" cy="274320"/>
          </a:xfrm>
          <a:prstGeom prst="rect">
            <a:avLst/>
          </a:prstGeom>
          <a:solidFill>
            <a:srgbClr val="00105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alphaModFix amt="5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 smtClean="0">
                <a:sym typeface="+mn-ea"/>
              </a:rPr>
              <a:t>Training Details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67485"/>
            <a:ext cx="10514965" cy="43516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000" dirty="0"/>
              <a:t>During my training at Kanerika, I worked with modern data engineering and cloud technologies used in real industry projects.</a:t>
            </a:r>
            <a:endParaRPr lang="en-US" altLang="en-US" sz="2000" dirty="0"/>
          </a:p>
          <a:p>
            <a:endParaRPr lang="en-US" altLang="en-US" sz="2000" dirty="0"/>
          </a:p>
          <a:p>
            <a:pPr marL="0" indent="0">
              <a:buNone/>
            </a:pPr>
            <a:r>
              <a:rPr lang="en-US" altLang="en-US" sz="2000" b="1" dirty="0"/>
              <a:t>Technologies learned:</a:t>
            </a:r>
            <a:endParaRPr lang="en-US" altLang="en-US" sz="2000" dirty="0"/>
          </a:p>
          <a:p>
            <a:r>
              <a:rPr lang="en-US" altLang="en-US" sz="2000" dirty="0"/>
              <a:t>Microsoft Fabric – Unified analytics platform for data integration, engineering, and analytics.</a:t>
            </a:r>
            <a:endParaRPr lang="en-US" altLang="en-US" sz="2000" dirty="0"/>
          </a:p>
          <a:p>
            <a:r>
              <a:rPr lang="en-US" altLang="en-US" sz="2000" dirty="0"/>
              <a:t>Google BigQuery – Serverless data warehouse used for large-scale SQL analytics.</a:t>
            </a:r>
            <a:endParaRPr lang="en-US" altLang="en-US" sz="2000" dirty="0"/>
          </a:p>
          <a:p>
            <a:r>
              <a:rPr lang="en-US" altLang="en-US" sz="2000" dirty="0"/>
              <a:t>Fivetran – Automated data pipeline tool used to sync data from multiple sources to data warehouses.</a:t>
            </a:r>
            <a:endParaRPr lang="en-US" altLang="en-US" sz="2000" dirty="0"/>
          </a:p>
          <a:p>
            <a:r>
              <a:rPr lang="en-US" altLang="en-US" sz="2000" dirty="0"/>
              <a:t>Google Cloud Run – Platform used to deploy and run containerized applications without managing servers.</a:t>
            </a:r>
            <a:endParaRPr lang="en-US" altLang="en-US" sz="2000" dirty="0"/>
          </a:p>
          <a:p>
            <a:endParaRPr lang="en-US" altLang="en-US" sz="2000" dirty="0"/>
          </a:p>
          <a:p>
            <a:pPr marL="0" indent="0">
              <a:buNone/>
            </a:pPr>
            <a:r>
              <a:rPr lang="en-US" altLang="en-US" sz="2000" b="1" dirty="0"/>
              <a:t>Key learning:</a:t>
            </a:r>
            <a:endParaRPr lang="en-US" altLang="en-US" sz="2000" dirty="0"/>
          </a:p>
          <a:p>
            <a:r>
              <a:rPr lang="en-US" altLang="en-US" sz="2000" dirty="0"/>
              <a:t>Understanding how modern cloud platforms manage large-scale data pipelines and analytics workflows.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alphaModFix amt="5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4000" dirty="0">
                <a:sym typeface="+mn-ea"/>
              </a:rPr>
              <a:t>Programming &amp; Development Tools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67485"/>
            <a:ext cx="10514965" cy="49168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000" dirty="0"/>
              <a:t>During the training I also worked with tools used in data engineering and version control.</a:t>
            </a:r>
            <a:endParaRPr lang="en-US" altLang="en-US" sz="2000" dirty="0"/>
          </a:p>
          <a:p>
            <a:pPr marL="0" indent="0">
              <a:buNone/>
            </a:pPr>
            <a:endParaRPr lang="en-US" altLang="en-US" sz="2000" dirty="0"/>
          </a:p>
          <a:p>
            <a:pPr marL="0" indent="0">
              <a:buNone/>
            </a:pPr>
            <a:r>
              <a:rPr lang="en-US" altLang="en-US" sz="2000" b="1" dirty="0"/>
              <a:t>Languages / Tools:</a:t>
            </a:r>
            <a:endParaRPr lang="en-US" altLang="en-US" sz="2000" dirty="0"/>
          </a:p>
          <a:p>
            <a:r>
              <a:rPr lang="en-US" altLang="en-US" sz="2000" dirty="0"/>
              <a:t>SQL – Used to query, transform, and analyze data in data warehouses.</a:t>
            </a:r>
            <a:endParaRPr lang="en-US" altLang="en-US" sz="2000" dirty="0"/>
          </a:p>
          <a:p>
            <a:r>
              <a:rPr lang="en-US" altLang="en-US" sz="2000" dirty="0"/>
              <a:t>Git – Used for version control and collaborative development.</a:t>
            </a:r>
            <a:endParaRPr lang="en-US" altLang="en-US" sz="2000" dirty="0"/>
          </a:p>
          <a:p>
            <a:r>
              <a:rPr lang="en-US" altLang="en-US" sz="2000" dirty="0"/>
              <a:t>Dataform – Used for building and managing SQL-based data transformation workflows in BigQuery.</a:t>
            </a:r>
            <a:endParaRPr lang="en-US" altLang="en-US" sz="2000" dirty="0"/>
          </a:p>
          <a:p>
            <a:pPr marL="0" indent="0">
              <a:buNone/>
            </a:pPr>
            <a:endParaRPr lang="en-US" altLang="en-US" sz="2000" dirty="0"/>
          </a:p>
          <a:p>
            <a:pPr marL="0" indent="0">
              <a:buNone/>
            </a:pPr>
            <a:r>
              <a:rPr lang="en-US" altLang="en-US" sz="2000" b="1" dirty="0"/>
              <a:t>Skills developed:</a:t>
            </a:r>
            <a:endParaRPr lang="en-US" altLang="en-US" sz="2000" dirty="0"/>
          </a:p>
          <a:p>
            <a:r>
              <a:rPr lang="en-US" altLang="en-US" sz="2000" dirty="0"/>
              <a:t>Writing optimized SQL queries</a:t>
            </a:r>
            <a:endParaRPr lang="en-US" altLang="en-US" sz="2000" dirty="0"/>
          </a:p>
          <a:p>
            <a:r>
              <a:rPr lang="en-US" altLang="en-US" sz="2000" dirty="0"/>
              <a:t>Managing code using Git repositories</a:t>
            </a:r>
            <a:endParaRPr lang="en-US" altLang="en-US" sz="2000" dirty="0"/>
          </a:p>
          <a:p>
            <a:r>
              <a:rPr lang="en-US" altLang="en-US" sz="2000" dirty="0"/>
              <a:t>Building structured data transformation pipelines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alphaModFix amt="5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4000" dirty="0">
                <a:sym typeface="+mn-ea"/>
              </a:rPr>
              <a:t>Workflow Automation &amp; Data Pipeline Concepts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67485"/>
            <a:ext cx="10514965" cy="51269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000" b="1" dirty="0"/>
              <a:t>Technologies / Methods:</a:t>
            </a:r>
            <a:endParaRPr lang="en-US" altLang="en-US" sz="2000" dirty="0"/>
          </a:p>
          <a:p>
            <a:r>
              <a:rPr lang="en-US" altLang="en-US" sz="2000" dirty="0"/>
              <a:t>Google Workflows – Used to automate and orchestrate cloud services and APIs.</a:t>
            </a:r>
            <a:endParaRPr lang="en-US" altLang="en-US" sz="2000" dirty="0"/>
          </a:p>
          <a:p>
            <a:r>
              <a:rPr lang="en-US" altLang="en-US" sz="2000" dirty="0"/>
              <a:t>Google Cloud – Platform used to deploy data pipelines and cloud applications.</a:t>
            </a:r>
            <a:endParaRPr lang="en-US" altLang="en-US" sz="2000" dirty="0"/>
          </a:p>
          <a:p>
            <a:pPr marL="0" indent="0">
              <a:buNone/>
            </a:pPr>
            <a:endParaRPr lang="en-US" altLang="en-US" sz="2000" dirty="0"/>
          </a:p>
          <a:p>
            <a:pPr marL="0" indent="0">
              <a:buNone/>
            </a:pPr>
            <a:r>
              <a:rPr lang="en-US" altLang="en-US" sz="2000" b="1" dirty="0"/>
              <a:t>Concepts learned:</a:t>
            </a:r>
            <a:endParaRPr lang="en-US" altLang="en-US" sz="2000" b="1" dirty="0"/>
          </a:p>
          <a:p>
            <a:r>
              <a:rPr lang="en-US" altLang="en-US" sz="2000" dirty="0"/>
              <a:t>Data pipeline orchestration</a:t>
            </a:r>
            <a:endParaRPr lang="en-US" altLang="en-US" sz="2000" dirty="0"/>
          </a:p>
          <a:p>
            <a:r>
              <a:rPr lang="en-US" altLang="en-US" sz="2000" dirty="0"/>
              <a:t>ETL / ELT workflows</a:t>
            </a:r>
            <a:endParaRPr lang="en-US" altLang="en-US" sz="2000" dirty="0"/>
          </a:p>
          <a:p>
            <a:r>
              <a:rPr lang="en-US" altLang="en-US" sz="2000" dirty="0"/>
              <a:t>Cloud-based data architecture</a:t>
            </a:r>
            <a:endParaRPr lang="en-US" altLang="en-US" sz="2000" dirty="0"/>
          </a:p>
          <a:p>
            <a:r>
              <a:rPr lang="en-US" altLang="en-US" sz="2000" dirty="0"/>
              <a:t>Automating data processing tasks</a:t>
            </a:r>
            <a:endParaRPr lang="en-US" altLang="en-US" sz="2000" dirty="0"/>
          </a:p>
          <a:p>
            <a:pPr marL="0" indent="0">
              <a:buNone/>
            </a:pPr>
            <a:endParaRPr lang="en-US" altLang="en-US" sz="2000" dirty="0"/>
          </a:p>
          <a:p>
            <a:pPr marL="0" indent="0">
              <a:buNone/>
            </a:pPr>
            <a:r>
              <a:rPr lang="en-US" altLang="en-US" sz="2000" b="1" dirty="0"/>
              <a:t>Outcome:</a:t>
            </a:r>
            <a:endParaRPr lang="en-US" altLang="en-US" sz="2000" b="1" dirty="0"/>
          </a:p>
          <a:p>
            <a:pPr marL="0" indent="0">
              <a:buNone/>
            </a:pPr>
            <a:r>
              <a:rPr lang="en-US" altLang="en-US" sz="2000" dirty="0"/>
              <a:t>This training helped me understand how companies design scalable cloud-based data engineering systems.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alphaModFix amt="5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 smtClean="0">
                <a:sym typeface="+mn-ea"/>
              </a:rPr>
              <a:t>Information about Project Title and Motivation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54530"/>
            <a:ext cx="5922010" cy="4176395"/>
          </a:xfrm>
        </p:spPr>
        <p:txBody>
          <a:bodyPr>
            <a:noAutofit/>
          </a:bodyPr>
          <a:lstStyle/>
          <a:p>
            <a:r>
              <a:rPr lang="en-US" altLang="en-US" sz="2000" dirty="0"/>
              <a:t>Production data and financial data are not well connected.</a:t>
            </a:r>
            <a:endParaRPr lang="en-US" altLang="en-US" sz="2000" dirty="0"/>
          </a:p>
          <a:p>
            <a:r>
              <a:rPr lang="en-US" altLang="en-US" sz="2000" dirty="0"/>
              <a:t>There is no single view of production and sales performance.</a:t>
            </a:r>
            <a:endParaRPr lang="en-US" altLang="en-US" sz="2000" dirty="0"/>
          </a:p>
          <a:p>
            <a:r>
              <a:rPr lang="en-US" altLang="en-US" sz="2000" dirty="0"/>
              <a:t>Cost tracking and variance visibility are limited.</a:t>
            </a:r>
            <a:endParaRPr lang="en-US" altLang="en-US" sz="2000" dirty="0"/>
          </a:p>
          <a:p>
            <a:r>
              <a:rPr lang="en-US" altLang="en-US" sz="2000" dirty="0"/>
              <a:t>Many processes are manual and time-consuming.</a:t>
            </a:r>
            <a:endParaRPr lang="en-US" altLang="en-US" sz="2000" dirty="0"/>
          </a:p>
          <a:p>
            <a:r>
              <a:rPr lang="en-US" altLang="en-US" sz="2000" dirty="0"/>
              <a:t>Production and project performance tracking is inconsistent.</a:t>
            </a:r>
            <a:endParaRPr lang="en-US" altLang="en-US" sz="2000" dirty="0"/>
          </a:p>
          <a:p>
            <a:r>
              <a:rPr lang="en-US" altLang="en-US" sz="2000" dirty="0"/>
              <a:t>It is difficult to analyze trends and seasonal patterns.</a:t>
            </a:r>
            <a:endParaRPr lang="en-US" altLang="en-US" sz="2000" dirty="0"/>
          </a:p>
          <a:p>
            <a:r>
              <a:rPr lang="en-US" altLang="en-US" sz="2000" dirty="0"/>
              <a:t>Forecasting is not connected to real performance data.</a:t>
            </a:r>
            <a:endParaRPr lang="en-US" altLang="en-US" sz="2000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6865620" y="1870075"/>
            <a:ext cx="4779645" cy="40125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alphaModFix amt="5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4000" dirty="0">
                <a:sym typeface="+mn-ea"/>
              </a:rPr>
              <a:t>Software Requirement Specification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52270"/>
            <a:ext cx="10589260" cy="49041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000" b="1" dirty="0"/>
              <a:t>Functional Requirements</a:t>
            </a:r>
            <a:endParaRPr lang="en-US" altLang="en-US" sz="2000" b="1" dirty="0"/>
          </a:p>
          <a:p>
            <a:r>
              <a:rPr lang="en-US" altLang="en-US" sz="2000" dirty="0"/>
              <a:t>Integrate data from multiple sources such as Procore, Google Sheets, and QuickBooks.</a:t>
            </a:r>
            <a:endParaRPr lang="en-US" altLang="en-US" sz="2000" dirty="0"/>
          </a:p>
          <a:p>
            <a:r>
              <a:rPr lang="en-US" altLang="en-US" sz="2000" dirty="0"/>
              <a:t>Automate data ingestion using Fivetran pipelines.</a:t>
            </a:r>
            <a:endParaRPr lang="en-US" altLang="en-US" sz="2000" dirty="0"/>
          </a:p>
          <a:p>
            <a:r>
              <a:rPr lang="en-US" altLang="en-US" sz="2000" dirty="0"/>
              <a:t>Store consolidated data in a centralized warehouse (Google BigQuery).</a:t>
            </a:r>
            <a:endParaRPr lang="en-US" altLang="en-US" sz="2000" dirty="0"/>
          </a:p>
          <a:p>
            <a:r>
              <a:rPr lang="en-US" altLang="en-US" sz="2000" dirty="0"/>
              <a:t>Transform and model data for analytical reporting.</a:t>
            </a:r>
            <a:endParaRPr lang="en-US" altLang="en-US" sz="2000" dirty="0"/>
          </a:p>
          <a:p>
            <a:r>
              <a:rPr lang="en-US" altLang="en-US" sz="2000" dirty="0"/>
              <a:t>Provide interactive dashboards and reports using Power BI.</a:t>
            </a:r>
            <a:endParaRPr lang="en-US" altLang="en-US" sz="2000" dirty="0"/>
          </a:p>
          <a:p>
            <a:endParaRPr lang="en-US" altLang="en-US" sz="2000" dirty="0"/>
          </a:p>
          <a:p>
            <a:pPr marL="0" indent="0">
              <a:buNone/>
            </a:pPr>
            <a:r>
              <a:rPr lang="en-US" altLang="en-US" sz="2000" b="1" dirty="0"/>
              <a:t>Non-Functional Requirements</a:t>
            </a:r>
            <a:endParaRPr lang="en-US" altLang="en-US" sz="2000" b="1" dirty="0"/>
          </a:p>
          <a:p>
            <a:r>
              <a:rPr lang="en-US" altLang="en-US" sz="2000" dirty="0"/>
              <a:t>Scalability: System should handle large volumes of data.</a:t>
            </a:r>
            <a:endParaRPr lang="en-US" altLang="en-US" sz="2000" dirty="0"/>
          </a:p>
          <a:p>
            <a:r>
              <a:rPr lang="en-US" altLang="en-US" sz="2000" dirty="0"/>
              <a:t>Reliability: Automated pipelines should run consistently without failures.</a:t>
            </a:r>
            <a:endParaRPr lang="en-US" altLang="en-US" sz="2000" dirty="0"/>
          </a:p>
          <a:p>
            <a:r>
              <a:rPr lang="en-US" altLang="en-US" sz="2000" dirty="0"/>
              <a:t>Security: Controlled access to sensitive business data.</a:t>
            </a:r>
            <a:endParaRPr lang="en-US" altLang="en-US" sz="2000" dirty="0"/>
          </a:p>
          <a:p>
            <a:r>
              <a:rPr lang="en-US" altLang="en-US" sz="2000" dirty="0"/>
              <a:t>Performance: Queries and reports should load efficiently.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alphaModFix amt="5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Architecture Diagram of the Project</a:t>
            </a:r>
            <a:endParaRPr lang="en-IN" sz="4000" b="1" dirty="0"/>
          </a:p>
        </p:txBody>
      </p:sp>
      <p:pic>
        <p:nvPicPr>
          <p:cNvPr id="5" name="Picture 4" descr="Gemini_Generated_Image_uhoudxuhoudxuho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77365"/>
            <a:ext cx="10138410" cy="4435475"/>
          </a:xfrm>
          <a:prstGeom prst="rect">
            <a:avLst/>
          </a:prstGeom>
        </p:spPr>
      </p:pic>
      <p:sp>
        <p:nvSpPr>
          <p:cNvPr id="7" name="Rectangles 6"/>
          <p:cNvSpPr/>
          <p:nvPr/>
        </p:nvSpPr>
        <p:spPr>
          <a:xfrm>
            <a:off x="1028065" y="2464435"/>
            <a:ext cx="4213860" cy="7480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alphaModFix amt="5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4000" b="1" dirty="0"/>
              <a:t>Data Source Identification and Integration</a:t>
            </a:r>
            <a:endParaRPr lang="en-US" alt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040120" cy="4351655"/>
          </a:xfrm>
        </p:spPr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n-US" altLang="en-US" sz="2400" dirty="0"/>
              <a:t>Data Sources</a:t>
            </a:r>
            <a:endParaRPr lang="en-US" altLang="en-US" sz="2400" dirty="0"/>
          </a:p>
          <a:p>
            <a:r>
              <a:rPr lang="en-US" altLang="en-US" sz="2400" dirty="0"/>
              <a:t>Procore (project and production data)</a:t>
            </a:r>
            <a:endParaRPr lang="en-US" altLang="en-US" sz="2400" dirty="0"/>
          </a:p>
          <a:p>
            <a:r>
              <a:rPr lang="en-US" altLang="en-US" sz="2400" dirty="0"/>
              <a:t>QuickBooks (financial data)</a:t>
            </a:r>
            <a:endParaRPr lang="en-US" altLang="en-US" sz="2400" dirty="0"/>
          </a:p>
          <a:p>
            <a:r>
              <a:rPr lang="en-US" altLang="en-US" sz="2400" dirty="0"/>
              <a:t>Google Sheets (operational records)</a:t>
            </a:r>
            <a:endParaRPr lang="en-US" altLang="en-US" sz="2400" dirty="0"/>
          </a:p>
          <a:p>
            <a:pPr marL="0" indent="0">
              <a:buNone/>
            </a:pPr>
            <a:endParaRPr lang="en-US" altLang="en-US" sz="2400" dirty="0"/>
          </a:p>
          <a:p>
            <a:pPr marL="0" indent="0">
              <a:buNone/>
            </a:pPr>
            <a:r>
              <a:rPr lang="en-US" altLang="en-US" sz="2400" dirty="0"/>
              <a:t>Method</a:t>
            </a:r>
            <a:endParaRPr lang="en-US" altLang="en-US" sz="2400" dirty="0"/>
          </a:p>
          <a:p>
            <a:r>
              <a:rPr lang="en-US" altLang="en-US" sz="2400" dirty="0"/>
              <a:t>Identify required datasets from each system</a:t>
            </a:r>
            <a:endParaRPr lang="en-US" altLang="en-US" sz="2400" dirty="0"/>
          </a:p>
          <a:p>
            <a:r>
              <a:rPr lang="en-US" altLang="en-US" sz="2400" dirty="0"/>
              <a:t>Connect data sources using Fivetran connectors</a:t>
            </a:r>
            <a:endParaRPr lang="en-US" altLang="en-US" sz="2400" dirty="0"/>
          </a:p>
          <a:p>
            <a:r>
              <a:rPr lang="en-US" altLang="en-US" sz="2400" dirty="0"/>
              <a:t>Automate data extraction and loading</a:t>
            </a:r>
            <a:endParaRPr lang="en-US" altLang="en-US" sz="2400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6878003" y="1831658"/>
            <a:ext cx="2867025" cy="1590675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6878320" y="3839210"/>
            <a:ext cx="2412365" cy="1810385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4"/>
          <a:stretch>
            <a:fillRect/>
          </a:stretch>
        </p:blipFill>
        <p:spPr>
          <a:xfrm>
            <a:off x="9509443" y="3601403"/>
            <a:ext cx="2238375" cy="20478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alphaModFix amt="5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4000" dirty="0">
                <a:sym typeface="+mn-ea"/>
              </a:rPr>
              <a:t>Data Processing and Storage</a:t>
            </a:r>
            <a:endParaRPr lang="en-US" alt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040120" cy="435165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en-US" sz="2400" dirty="0"/>
          </a:p>
          <a:p>
            <a:pPr marL="0" indent="0">
              <a:buNone/>
            </a:pPr>
            <a:r>
              <a:rPr lang="en-US" altLang="en-US" sz="2400" dirty="0"/>
              <a:t>Process</a:t>
            </a:r>
            <a:endParaRPr lang="en-US" altLang="en-US" sz="2400" dirty="0"/>
          </a:p>
          <a:p>
            <a:pPr marL="0" indent="0">
              <a:buNone/>
            </a:pPr>
            <a:endParaRPr lang="en-US" altLang="en-US" sz="2400" dirty="0"/>
          </a:p>
          <a:p>
            <a:r>
              <a:rPr lang="en-US" altLang="en-US" sz="2400" dirty="0"/>
              <a:t>Load raw data into Google BigQuery</a:t>
            </a:r>
            <a:endParaRPr lang="en-US" altLang="en-US" sz="2400" dirty="0"/>
          </a:p>
          <a:p>
            <a:r>
              <a:rPr lang="en-US" altLang="en-US" sz="2400" dirty="0"/>
              <a:t>Clean and standardize data</a:t>
            </a:r>
            <a:endParaRPr lang="en-US" altLang="en-US" sz="2400" dirty="0"/>
          </a:p>
          <a:p>
            <a:r>
              <a:rPr lang="en-US" altLang="en-US" sz="2400" dirty="0"/>
              <a:t>Perform data transformations</a:t>
            </a:r>
            <a:endParaRPr lang="en-US" altLang="en-US" sz="2400" dirty="0"/>
          </a:p>
          <a:p>
            <a:r>
              <a:rPr lang="en-US" altLang="en-US" sz="2400" dirty="0"/>
              <a:t>Create structured analytical tables</a:t>
            </a:r>
            <a:endParaRPr lang="en-US" altLang="en-US" sz="2400" dirty="0"/>
          </a:p>
        </p:txBody>
      </p:sp>
      <p:pic>
        <p:nvPicPr>
          <p:cNvPr id="8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6247130" y="1666875"/>
            <a:ext cx="3861435" cy="2172335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3"/>
          <a:stretch>
            <a:fillRect/>
          </a:stretch>
        </p:blipFill>
        <p:spPr>
          <a:xfrm>
            <a:off x="6247130" y="4033520"/>
            <a:ext cx="3233420" cy="1567815"/>
          </a:xfrm>
          <a:prstGeom prst="rect">
            <a:avLst/>
          </a:prstGeom>
        </p:spPr>
      </p:pic>
      <p:pic>
        <p:nvPicPr>
          <p:cNvPr id="10" name="Picture 9"/>
          <p:cNvPicPr/>
          <p:nvPr/>
        </p:nvPicPr>
        <p:blipFill>
          <a:blip r:embed="rId4"/>
          <a:stretch>
            <a:fillRect/>
          </a:stretch>
        </p:blipFill>
        <p:spPr>
          <a:xfrm>
            <a:off x="9719628" y="4033203"/>
            <a:ext cx="1781175" cy="17811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alphaModFix amt="5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4000" dirty="0">
                <a:sym typeface="+mn-ea"/>
              </a:rPr>
              <a:t>Reporting and Analytics</a:t>
            </a:r>
            <a:endParaRPr lang="en-US" alt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040120" cy="4351655"/>
          </a:xfrm>
        </p:spPr>
        <p:txBody>
          <a:bodyPr>
            <a:normAutofit fontScale="90000"/>
          </a:bodyPr>
          <a:lstStyle/>
          <a:p>
            <a:pPr marL="0" indent="0">
              <a:buNone/>
            </a:pPr>
            <a:endParaRPr lang="en-US" altLang="en-US" sz="2400" dirty="0"/>
          </a:p>
          <a:p>
            <a:pPr marL="0" indent="0">
              <a:buNone/>
            </a:pPr>
            <a:r>
              <a:rPr lang="en-US" altLang="en-US" sz="2400" dirty="0"/>
              <a:t>Process</a:t>
            </a:r>
            <a:endParaRPr lang="en-US" altLang="en-US" sz="2400" dirty="0"/>
          </a:p>
          <a:p>
            <a:r>
              <a:rPr lang="en-US" altLang="en-US" sz="2400" dirty="0"/>
              <a:t>Connect Power BI to BigQuery</a:t>
            </a:r>
            <a:endParaRPr lang="en-US" altLang="en-US" sz="2400" dirty="0"/>
          </a:p>
          <a:p>
            <a:r>
              <a:rPr lang="en-US" altLang="en-US" sz="2400" dirty="0"/>
              <a:t>Build dashboards and reports</a:t>
            </a:r>
            <a:endParaRPr lang="en-US" altLang="en-US" sz="2400" dirty="0"/>
          </a:p>
          <a:p>
            <a:r>
              <a:rPr lang="en-US" altLang="en-US" sz="2400" dirty="0"/>
              <a:t>Enable performance monitoring and insights</a:t>
            </a:r>
            <a:endParaRPr lang="en-US" altLang="en-US" sz="2400" dirty="0"/>
          </a:p>
          <a:p>
            <a:pPr marL="0" indent="0">
              <a:buNone/>
            </a:pPr>
            <a:endParaRPr lang="en-US" altLang="en-US" sz="2400" dirty="0"/>
          </a:p>
          <a:p>
            <a:pPr marL="0" indent="0">
              <a:buNone/>
            </a:pPr>
            <a:r>
              <a:rPr lang="en-US" altLang="en-US" sz="2400" dirty="0"/>
              <a:t>Outcome</a:t>
            </a:r>
            <a:endParaRPr lang="en-US" altLang="en-US" sz="2400" dirty="0"/>
          </a:p>
          <a:p>
            <a:r>
              <a:rPr lang="en-US" altLang="en-US" sz="2400" dirty="0"/>
              <a:t>Centralized reporting system</a:t>
            </a:r>
            <a:endParaRPr lang="en-US" altLang="en-US" sz="2400" dirty="0"/>
          </a:p>
          <a:p>
            <a:r>
              <a:rPr lang="en-US" altLang="en-US" sz="2400" dirty="0"/>
              <a:t>Improved visibility into production and financial performance</a:t>
            </a:r>
            <a:endParaRPr lang="en-US" altLang="en-US" sz="2400" dirty="0"/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7160260" y="2741295"/>
            <a:ext cx="4105275" cy="2280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 cstate="print">
            <a:alphaModFix amt="5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03437"/>
            <a:ext cx="12192000" cy="1325563"/>
          </a:xfrm>
        </p:spPr>
        <p:txBody>
          <a:bodyPr>
            <a:noAutofit/>
          </a:bodyPr>
          <a:lstStyle/>
          <a:p>
            <a:pPr algn="ctr"/>
            <a:r>
              <a:rPr lang="en-IN" sz="6000" b="1" dirty="0"/>
              <a:t>Thank You!</a:t>
            </a:r>
            <a:endParaRPr lang="en-IN" sz="6000" b="1" dirty="0"/>
          </a:p>
        </p:txBody>
      </p:sp>
      <p:sp>
        <p:nvSpPr>
          <p:cNvPr id="6" name="Title 1"/>
          <p:cNvSpPr txBox="1"/>
          <p:nvPr/>
        </p:nvSpPr>
        <p:spPr>
          <a:xfrm>
            <a:off x="4624251" y="3927883"/>
            <a:ext cx="265176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800" b="1" dirty="0">
                <a:solidFill>
                  <a:srgbClr val="FF0000"/>
                </a:solidFill>
              </a:rPr>
              <a:t>Q &amp; A</a:t>
            </a:r>
            <a:endParaRPr lang="en-IN" sz="4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4186</Words>
  <Application>WPS Presentation</Application>
  <PresentationFormat>Custom</PresentationFormat>
  <Paragraphs>143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1_Office Theme</vt:lpstr>
      <vt:lpstr>Title of the Project  Organization name: Name of the Organization</vt:lpstr>
      <vt:lpstr>Title &lt; 40pt, font type: Calibri light </vt:lpstr>
      <vt:lpstr>Information About the Organization</vt:lpstr>
      <vt:lpstr>Information About the Organization</vt:lpstr>
      <vt:lpstr>Title &lt; 40pt, font type: Calibri light </vt:lpstr>
      <vt:lpstr>Training Details</vt:lpstr>
      <vt:lpstr>Training Details</vt:lpstr>
      <vt:lpstr>Workflow Automation &amp; Data Pipeline Concepts</vt:lpstr>
      <vt:lpstr>Information about Project Title and Motivation</vt:lpstr>
      <vt:lpstr>Title &lt; 40pt, font type: Calibri light </vt:lpstr>
      <vt:lpstr>Title &lt; 40pt, font type: Calibri light </vt:lpstr>
      <vt:lpstr>Data Source Identification and Integration</vt:lpstr>
      <vt:lpstr>Data Processing and Storage</vt:lpstr>
      <vt:lpstr>Thank You!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Term Paper: &lt;Title, Bold, 50pt&gt;</dc:title>
  <dc:creator>Dr. Dibakar Saha</dc:creator>
  <cp:lastModifiedBy>Dhanush Surendra</cp:lastModifiedBy>
  <cp:revision>15</cp:revision>
  <dcterms:created xsi:type="dcterms:W3CDTF">2022-05-23T08:18:00Z</dcterms:created>
  <dcterms:modified xsi:type="dcterms:W3CDTF">2026-03-15T15:59:05Z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247B72240E5C40BFA79FCD2B046372D9_13</vt:lpwstr>
  </property>
  <property fmtid="{D5CDD505-2E9C-101B-9397-08002B2CF9AE}" pid="3" name="KSOProductBuildVer">
    <vt:lpwstr>1033-12.2.0.23196</vt:lpwstr>
  </property>
</Properties>
</file>